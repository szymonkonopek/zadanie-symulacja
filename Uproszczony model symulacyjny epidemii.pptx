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D35593-4518-46EC-8DFA-1837CEF08747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l-PL"/>
        </a:p>
      </dgm:t>
    </dgm:pt>
    <dgm:pt modelId="{39056F5B-3408-49DF-9802-438B54947BA2}">
      <dgm:prSet phldrT="[Tekst]"/>
      <dgm:spPr/>
      <dgm:t>
        <a:bodyPr/>
        <a:lstStyle/>
        <a:p>
          <a:r>
            <a:rPr lang="pl-PL" dirty="0" smtClean="0"/>
            <a:t>z(t)</a:t>
          </a:r>
          <a:endParaRPr lang="pl-PL" dirty="0"/>
        </a:p>
      </dgm:t>
    </dgm:pt>
    <dgm:pt modelId="{80E50C7F-CC50-4ADE-B5F3-EB6214094F33}" type="parTrans" cxnId="{40BAA6DC-A662-4AAE-A122-28A0980B9CCA}">
      <dgm:prSet/>
      <dgm:spPr/>
      <dgm:t>
        <a:bodyPr/>
        <a:lstStyle/>
        <a:p>
          <a:endParaRPr lang="pl-PL"/>
        </a:p>
      </dgm:t>
    </dgm:pt>
    <dgm:pt modelId="{B565A608-FD98-4C0D-86E7-0CEBBF4C9E34}" type="sibTrans" cxnId="{40BAA6DC-A662-4AAE-A122-28A0980B9CCA}">
      <dgm:prSet/>
      <dgm:spPr/>
      <dgm:t>
        <a:bodyPr/>
        <a:lstStyle/>
        <a:p>
          <a:endParaRPr lang="pl-PL"/>
        </a:p>
      </dgm:t>
    </dgm:pt>
    <dgm:pt modelId="{11BC0AAA-BA3A-4797-9ADC-1E9009299587}">
      <dgm:prSet phldrT="[Tekst]"/>
      <dgm:spPr/>
      <dgm:t>
        <a:bodyPr/>
        <a:lstStyle/>
        <a:p>
          <a:r>
            <a:rPr lang="pl-PL" dirty="0" smtClean="0"/>
            <a:t>ca(t)</a:t>
          </a:r>
          <a:endParaRPr lang="pl-PL" dirty="0"/>
        </a:p>
      </dgm:t>
    </dgm:pt>
    <dgm:pt modelId="{DF398E49-EA7D-4A98-81FB-91336A2B83D9}" type="parTrans" cxnId="{96EAA813-24E0-49AA-BC04-C66D9BA70A1E}">
      <dgm:prSet/>
      <dgm:spPr/>
      <dgm:t>
        <a:bodyPr/>
        <a:lstStyle/>
        <a:p>
          <a:endParaRPr lang="pl-PL"/>
        </a:p>
      </dgm:t>
    </dgm:pt>
    <dgm:pt modelId="{06531E5F-DD21-4067-805A-472988E44398}" type="sibTrans" cxnId="{96EAA813-24E0-49AA-BC04-C66D9BA70A1E}">
      <dgm:prSet/>
      <dgm:spPr/>
      <dgm:t>
        <a:bodyPr/>
        <a:lstStyle/>
        <a:p>
          <a:endParaRPr lang="pl-PL"/>
        </a:p>
      </dgm:t>
    </dgm:pt>
    <dgm:pt modelId="{1423CE18-9E48-4937-A829-E6DEBAD9F73A}">
      <dgm:prSet phldrT="[Tekst]"/>
      <dgm:spPr/>
      <dgm:t>
        <a:bodyPr/>
        <a:lstStyle/>
        <a:p>
          <a:r>
            <a:rPr lang="pl-PL" dirty="0" err="1" smtClean="0"/>
            <a:t>cb</a:t>
          </a:r>
          <a:r>
            <a:rPr lang="pl-PL" dirty="0" smtClean="0"/>
            <a:t>(t)</a:t>
          </a:r>
          <a:endParaRPr lang="pl-PL" dirty="0"/>
        </a:p>
      </dgm:t>
    </dgm:pt>
    <dgm:pt modelId="{2D127955-3714-4BBF-95D7-66AB4D074A93}" type="parTrans" cxnId="{044DCE14-CDA9-4C33-B4CD-47799034DD7C}">
      <dgm:prSet/>
      <dgm:spPr/>
      <dgm:t>
        <a:bodyPr/>
        <a:lstStyle/>
        <a:p>
          <a:endParaRPr lang="pl-PL"/>
        </a:p>
      </dgm:t>
    </dgm:pt>
    <dgm:pt modelId="{D4D6388F-1885-4E19-96EE-3C325C9A20A5}" type="sibTrans" cxnId="{044DCE14-CDA9-4C33-B4CD-47799034DD7C}">
      <dgm:prSet/>
      <dgm:spPr/>
      <dgm:t>
        <a:bodyPr/>
        <a:lstStyle/>
        <a:p>
          <a:endParaRPr lang="pl-PL"/>
        </a:p>
      </dgm:t>
    </dgm:pt>
    <dgm:pt modelId="{34E19F95-AC20-46FF-B8B2-F9E1E87CCD06}">
      <dgm:prSet phldrT="[Tekst]"/>
      <dgm:spPr/>
      <dgm:t>
        <a:bodyPr/>
        <a:lstStyle/>
        <a:p>
          <a:r>
            <a:rPr lang="pl-PL" dirty="0" smtClean="0"/>
            <a:t>o(t)</a:t>
          </a:r>
          <a:endParaRPr lang="pl-PL" dirty="0"/>
        </a:p>
      </dgm:t>
    </dgm:pt>
    <dgm:pt modelId="{59DCF247-D2DA-4A8D-AAC0-AFB905B912C3}" type="parTrans" cxnId="{D694C178-98AD-4DCE-90B9-AF3C3D701F05}">
      <dgm:prSet/>
      <dgm:spPr/>
      <dgm:t>
        <a:bodyPr/>
        <a:lstStyle/>
        <a:p>
          <a:endParaRPr lang="pl-PL"/>
        </a:p>
      </dgm:t>
    </dgm:pt>
    <dgm:pt modelId="{03DF33A1-0A8A-43F4-92D3-3CE9E8524F67}" type="sibTrans" cxnId="{D694C178-98AD-4DCE-90B9-AF3C3D701F05}">
      <dgm:prSet/>
      <dgm:spPr/>
      <dgm:t>
        <a:bodyPr/>
        <a:lstStyle/>
        <a:p>
          <a:endParaRPr lang="pl-PL"/>
        </a:p>
      </dgm:t>
    </dgm:pt>
    <dgm:pt modelId="{CE9FAB8B-8729-4E22-8DAF-79BB1A614D2F}" type="pres">
      <dgm:prSet presAssocID="{C9D35593-4518-46EC-8DFA-1837CEF08747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l-PL"/>
        </a:p>
      </dgm:t>
    </dgm:pt>
    <dgm:pt modelId="{98279EED-E8FC-4966-8F30-A80F0CAE863B}" type="pres">
      <dgm:prSet presAssocID="{39056F5B-3408-49DF-9802-438B54947BA2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0A09B9B9-F478-4A07-A912-714A290B72BB}" type="pres">
      <dgm:prSet presAssocID="{B565A608-FD98-4C0D-86E7-0CEBBF4C9E34}" presName="sibTrans" presStyleLbl="sibTrans2D1" presStyleIdx="0" presStyleCnt="4"/>
      <dgm:spPr/>
      <dgm:t>
        <a:bodyPr/>
        <a:lstStyle/>
        <a:p>
          <a:endParaRPr lang="pl-PL"/>
        </a:p>
      </dgm:t>
    </dgm:pt>
    <dgm:pt modelId="{EEAC8825-A0E1-4F46-93C6-4E55076B818F}" type="pres">
      <dgm:prSet presAssocID="{B565A608-FD98-4C0D-86E7-0CEBBF4C9E34}" presName="connectorText" presStyleLbl="sibTrans2D1" presStyleIdx="0" presStyleCnt="4"/>
      <dgm:spPr/>
      <dgm:t>
        <a:bodyPr/>
        <a:lstStyle/>
        <a:p>
          <a:endParaRPr lang="pl-PL"/>
        </a:p>
      </dgm:t>
    </dgm:pt>
    <dgm:pt modelId="{54FBE9A2-016C-4BEB-8172-2A883AAFE1A0}" type="pres">
      <dgm:prSet presAssocID="{11BC0AAA-BA3A-4797-9ADC-1E9009299587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DD94836F-2061-42E8-8E6E-F0B99F3D4662}" type="pres">
      <dgm:prSet presAssocID="{06531E5F-DD21-4067-805A-472988E44398}" presName="sibTrans" presStyleLbl="sibTrans2D1" presStyleIdx="1" presStyleCnt="4"/>
      <dgm:spPr/>
      <dgm:t>
        <a:bodyPr/>
        <a:lstStyle/>
        <a:p>
          <a:endParaRPr lang="pl-PL"/>
        </a:p>
      </dgm:t>
    </dgm:pt>
    <dgm:pt modelId="{D9E0F34F-27CB-4A37-80F1-7631B4FEC178}" type="pres">
      <dgm:prSet presAssocID="{06531E5F-DD21-4067-805A-472988E44398}" presName="connectorText" presStyleLbl="sibTrans2D1" presStyleIdx="1" presStyleCnt="4"/>
      <dgm:spPr/>
      <dgm:t>
        <a:bodyPr/>
        <a:lstStyle/>
        <a:p>
          <a:endParaRPr lang="pl-PL"/>
        </a:p>
      </dgm:t>
    </dgm:pt>
    <dgm:pt modelId="{1D2FC98D-48BA-4CD7-8AB2-1D8291C00C31}" type="pres">
      <dgm:prSet presAssocID="{1423CE18-9E48-4937-A829-E6DEBAD9F73A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CE303B66-BB21-4758-9D4D-A046E5CF2D57}" type="pres">
      <dgm:prSet presAssocID="{D4D6388F-1885-4E19-96EE-3C325C9A20A5}" presName="sibTrans" presStyleLbl="sibTrans2D1" presStyleIdx="2" presStyleCnt="4"/>
      <dgm:spPr/>
      <dgm:t>
        <a:bodyPr/>
        <a:lstStyle/>
        <a:p>
          <a:endParaRPr lang="pl-PL"/>
        </a:p>
      </dgm:t>
    </dgm:pt>
    <dgm:pt modelId="{A264C9C7-A799-457B-B825-A46C248810E0}" type="pres">
      <dgm:prSet presAssocID="{D4D6388F-1885-4E19-96EE-3C325C9A20A5}" presName="connectorText" presStyleLbl="sibTrans2D1" presStyleIdx="2" presStyleCnt="4"/>
      <dgm:spPr/>
      <dgm:t>
        <a:bodyPr/>
        <a:lstStyle/>
        <a:p>
          <a:endParaRPr lang="pl-PL"/>
        </a:p>
      </dgm:t>
    </dgm:pt>
    <dgm:pt modelId="{3181A220-5D29-427F-8174-BD58D6FFD6B6}" type="pres">
      <dgm:prSet presAssocID="{34E19F95-AC20-46FF-B8B2-F9E1E87CCD06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D2ACC1D6-17B1-4D54-A8BA-B91FFC3C5D45}" type="pres">
      <dgm:prSet presAssocID="{03DF33A1-0A8A-43F4-92D3-3CE9E8524F67}" presName="sibTrans" presStyleLbl="sibTrans2D1" presStyleIdx="3" presStyleCnt="4"/>
      <dgm:spPr/>
      <dgm:t>
        <a:bodyPr/>
        <a:lstStyle/>
        <a:p>
          <a:endParaRPr lang="pl-PL"/>
        </a:p>
      </dgm:t>
    </dgm:pt>
    <dgm:pt modelId="{7DE1A64A-7C65-4C67-A7EB-CCCA00CB9558}" type="pres">
      <dgm:prSet presAssocID="{03DF33A1-0A8A-43F4-92D3-3CE9E8524F67}" presName="connectorText" presStyleLbl="sibTrans2D1" presStyleIdx="3" presStyleCnt="4"/>
      <dgm:spPr/>
      <dgm:t>
        <a:bodyPr/>
        <a:lstStyle/>
        <a:p>
          <a:endParaRPr lang="pl-PL"/>
        </a:p>
      </dgm:t>
    </dgm:pt>
  </dgm:ptLst>
  <dgm:cxnLst>
    <dgm:cxn modelId="{2ACD6247-3460-410C-B4E0-5E6459A055CD}" type="presOf" srcId="{34E19F95-AC20-46FF-B8B2-F9E1E87CCD06}" destId="{3181A220-5D29-427F-8174-BD58D6FFD6B6}" srcOrd="0" destOrd="0" presId="urn:microsoft.com/office/officeart/2005/8/layout/cycle2"/>
    <dgm:cxn modelId="{044DCE14-CDA9-4C33-B4CD-47799034DD7C}" srcId="{C9D35593-4518-46EC-8DFA-1837CEF08747}" destId="{1423CE18-9E48-4937-A829-E6DEBAD9F73A}" srcOrd="2" destOrd="0" parTransId="{2D127955-3714-4BBF-95D7-66AB4D074A93}" sibTransId="{D4D6388F-1885-4E19-96EE-3C325C9A20A5}"/>
    <dgm:cxn modelId="{0503DFE1-A102-40C1-897F-3B7482F08710}" type="presOf" srcId="{D4D6388F-1885-4E19-96EE-3C325C9A20A5}" destId="{CE303B66-BB21-4758-9D4D-A046E5CF2D57}" srcOrd="0" destOrd="0" presId="urn:microsoft.com/office/officeart/2005/8/layout/cycle2"/>
    <dgm:cxn modelId="{3680984D-1AE3-4B8E-9D5F-3F3332EE7C16}" type="presOf" srcId="{D4D6388F-1885-4E19-96EE-3C325C9A20A5}" destId="{A264C9C7-A799-457B-B825-A46C248810E0}" srcOrd="1" destOrd="0" presId="urn:microsoft.com/office/officeart/2005/8/layout/cycle2"/>
    <dgm:cxn modelId="{BCFE409B-F9D4-429F-BE41-CC594D9B544D}" type="presOf" srcId="{39056F5B-3408-49DF-9802-438B54947BA2}" destId="{98279EED-E8FC-4966-8F30-A80F0CAE863B}" srcOrd="0" destOrd="0" presId="urn:microsoft.com/office/officeart/2005/8/layout/cycle2"/>
    <dgm:cxn modelId="{DA262942-D07F-4BB3-BDBC-2E22A8989205}" type="presOf" srcId="{B565A608-FD98-4C0D-86E7-0CEBBF4C9E34}" destId="{EEAC8825-A0E1-4F46-93C6-4E55076B818F}" srcOrd="1" destOrd="0" presId="urn:microsoft.com/office/officeart/2005/8/layout/cycle2"/>
    <dgm:cxn modelId="{57CE27B9-3188-4F0C-9A4A-16A171127C42}" type="presOf" srcId="{C9D35593-4518-46EC-8DFA-1837CEF08747}" destId="{CE9FAB8B-8729-4E22-8DAF-79BB1A614D2F}" srcOrd="0" destOrd="0" presId="urn:microsoft.com/office/officeart/2005/8/layout/cycle2"/>
    <dgm:cxn modelId="{40BAA6DC-A662-4AAE-A122-28A0980B9CCA}" srcId="{C9D35593-4518-46EC-8DFA-1837CEF08747}" destId="{39056F5B-3408-49DF-9802-438B54947BA2}" srcOrd="0" destOrd="0" parTransId="{80E50C7F-CC50-4ADE-B5F3-EB6214094F33}" sibTransId="{B565A608-FD98-4C0D-86E7-0CEBBF4C9E34}"/>
    <dgm:cxn modelId="{D694C178-98AD-4DCE-90B9-AF3C3D701F05}" srcId="{C9D35593-4518-46EC-8DFA-1837CEF08747}" destId="{34E19F95-AC20-46FF-B8B2-F9E1E87CCD06}" srcOrd="3" destOrd="0" parTransId="{59DCF247-D2DA-4A8D-AAC0-AFB905B912C3}" sibTransId="{03DF33A1-0A8A-43F4-92D3-3CE9E8524F67}"/>
    <dgm:cxn modelId="{EC677FAD-6803-4DFA-BDFC-8F682BCD0C2D}" type="presOf" srcId="{11BC0AAA-BA3A-4797-9ADC-1E9009299587}" destId="{54FBE9A2-016C-4BEB-8172-2A883AAFE1A0}" srcOrd="0" destOrd="0" presId="urn:microsoft.com/office/officeart/2005/8/layout/cycle2"/>
    <dgm:cxn modelId="{250E245B-EDBB-44D7-BECE-7B0D37EC97F6}" type="presOf" srcId="{06531E5F-DD21-4067-805A-472988E44398}" destId="{D9E0F34F-27CB-4A37-80F1-7631B4FEC178}" srcOrd="1" destOrd="0" presId="urn:microsoft.com/office/officeart/2005/8/layout/cycle2"/>
    <dgm:cxn modelId="{96EAA813-24E0-49AA-BC04-C66D9BA70A1E}" srcId="{C9D35593-4518-46EC-8DFA-1837CEF08747}" destId="{11BC0AAA-BA3A-4797-9ADC-1E9009299587}" srcOrd="1" destOrd="0" parTransId="{DF398E49-EA7D-4A98-81FB-91336A2B83D9}" sibTransId="{06531E5F-DD21-4067-805A-472988E44398}"/>
    <dgm:cxn modelId="{F9DF2DED-1337-406D-B7D5-D512400510B1}" type="presOf" srcId="{03DF33A1-0A8A-43F4-92D3-3CE9E8524F67}" destId="{D2ACC1D6-17B1-4D54-A8BA-B91FFC3C5D45}" srcOrd="0" destOrd="0" presId="urn:microsoft.com/office/officeart/2005/8/layout/cycle2"/>
    <dgm:cxn modelId="{5A148A36-A716-45F0-8FC0-C2BCFAF071DA}" type="presOf" srcId="{1423CE18-9E48-4937-A829-E6DEBAD9F73A}" destId="{1D2FC98D-48BA-4CD7-8AB2-1D8291C00C31}" srcOrd="0" destOrd="0" presId="urn:microsoft.com/office/officeart/2005/8/layout/cycle2"/>
    <dgm:cxn modelId="{A8C1ABA0-F250-4C5B-9E0C-F732AA109494}" type="presOf" srcId="{B565A608-FD98-4C0D-86E7-0CEBBF4C9E34}" destId="{0A09B9B9-F478-4A07-A912-714A290B72BB}" srcOrd="0" destOrd="0" presId="urn:microsoft.com/office/officeart/2005/8/layout/cycle2"/>
    <dgm:cxn modelId="{7DAD01CA-D294-41C6-9E8C-5377EEEC8C2D}" type="presOf" srcId="{06531E5F-DD21-4067-805A-472988E44398}" destId="{DD94836F-2061-42E8-8E6E-F0B99F3D4662}" srcOrd="0" destOrd="0" presId="urn:microsoft.com/office/officeart/2005/8/layout/cycle2"/>
    <dgm:cxn modelId="{B78FC1BE-69B5-485A-9EDA-0EBE1EF44FE2}" type="presOf" srcId="{03DF33A1-0A8A-43F4-92D3-3CE9E8524F67}" destId="{7DE1A64A-7C65-4C67-A7EB-CCCA00CB9558}" srcOrd="1" destOrd="0" presId="urn:microsoft.com/office/officeart/2005/8/layout/cycle2"/>
    <dgm:cxn modelId="{BF8A9C7D-29E9-4F53-BBA0-D4C10C6AFBC2}" type="presParOf" srcId="{CE9FAB8B-8729-4E22-8DAF-79BB1A614D2F}" destId="{98279EED-E8FC-4966-8F30-A80F0CAE863B}" srcOrd="0" destOrd="0" presId="urn:microsoft.com/office/officeart/2005/8/layout/cycle2"/>
    <dgm:cxn modelId="{FEB58AA8-D5CE-4B1F-A362-98C28EDB9F2A}" type="presParOf" srcId="{CE9FAB8B-8729-4E22-8DAF-79BB1A614D2F}" destId="{0A09B9B9-F478-4A07-A912-714A290B72BB}" srcOrd="1" destOrd="0" presId="urn:microsoft.com/office/officeart/2005/8/layout/cycle2"/>
    <dgm:cxn modelId="{CF2033FA-860A-45DE-BCC6-A5F387B2F53D}" type="presParOf" srcId="{0A09B9B9-F478-4A07-A912-714A290B72BB}" destId="{EEAC8825-A0E1-4F46-93C6-4E55076B818F}" srcOrd="0" destOrd="0" presId="urn:microsoft.com/office/officeart/2005/8/layout/cycle2"/>
    <dgm:cxn modelId="{7161AADA-2FF7-4526-A46C-AB4F6A97D974}" type="presParOf" srcId="{CE9FAB8B-8729-4E22-8DAF-79BB1A614D2F}" destId="{54FBE9A2-016C-4BEB-8172-2A883AAFE1A0}" srcOrd="2" destOrd="0" presId="urn:microsoft.com/office/officeart/2005/8/layout/cycle2"/>
    <dgm:cxn modelId="{BF8D15D2-9F8B-4B5F-841B-76F3A1F00FDF}" type="presParOf" srcId="{CE9FAB8B-8729-4E22-8DAF-79BB1A614D2F}" destId="{DD94836F-2061-42E8-8E6E-F0B99F3D4662}" srcOrd="3" destOrd="0" presId="urn:microsoft.com/office/officeart/2005/8/layout/cycle2"/>
    <dgm:cxn modelId="{69A72D99-EA99-4613-9B7D-A26F16B8D4EB}" type="presParOf" srcId="{DD94836F-2061-42E8-8E6E-F0B99F3D4662}" destId="{D9E0F34F-27CB-4A37-80F1-7631B4FEC178}" srcOrd="0" destOrd="0" presId="urn:microsoft.com/office/officeart/2005/8/layout/cycle2"/>
    <dgm:cxn modelId="{4514D3D6-37A7-4881-B655-FD50E2D28B6D}" type="presParOf" srcId="{CE9FAB8B-8729-4E22-8DAF-79BB1A614D2F}" destId="{1D2FC98D-48BA-4CD7-8AB2-1D8291C00C31}" srcOrd="4" destOrd="0" presId="urn:microsoft.com/office/officeart/2005/8/layout/cycle2"/>
    <dgm:cxn modelId="{F4630EA8-7DB2-49FB-AAD9-F31D8DB666F2}" type="presParOf" srcId="{CE9FAB8B-8729-4E22-8DAF-79BB1A614D2F}" destId="{CE303B66-BB21-4758-9D4D-A046E5CF2D57}" srcOrd="5" destOrd="0" presId="urn:microsoft.com/office/officeart/2005/8/layout/cycle2"/>
    <dgm:cxn modelId="{06445D97-BFFC-4445-8D82-A54F0B02DD78}" type="presParOf" srcId="{CE303B66-BB21-4758-9D4D-A046E5CF2D57}" destId="{A264C9C7-A799-457B-B825-A46C248810E0}" srcOrd="0" destOrd="0" presId="urn:microsoft.com/office/officeart/2005/8/layout/cycle2"/>
    <dgm:cxn modelId="{217F538C-31C0-4CDC-AF7E-E0589C8A9573}" type="presParOf" srcId="{CE9FAB8B-8729-4E22-8DAF-79BB1A614D2F}" destId="{3181A220-5D29-427F-8174-BD58D6FFD6B6}" srcOrd="6" destOrd="0" presId="urn:microsoft.com/office/officeart/2005/8/layout/cycle2"/>
    <dgm:cxn modelId="{88D86F18-5BE0-408A-87F8-D076C5A9DD1D}" type="presParOf" srcId="{CE9FAB8B-8729-4E22-8DAF-79BB1A614D2F}" destId="{D2ACC1D6-17B1-4D54-A8BA-B91FFC3C5D45}" srcOrd="7" destOrd="0" presId="urn:microsoft.com/office/officeart/2005/8/layout/cycle2"/>
    <dgm:cxn modelId="{41650C91-D8B6-4D02-8973-FB11B876650A}" type="presParOf" srcId="{D2ACC1D6-17B1-4D54-A8BA-B91FFC3C5D45}" destId="{7DE1A64A-7C65-4C67-A7EB-CCCA00CB955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8279EED-E8FC-4966-8F30-A80F0CAE863B}">
      <dsp:nvSpPr>
        <dsp:cNvPr id="0" name=""/>
        <dsp:cNvSpPr/>
      </dsp:nvSpPr>
      <dsp:spPr>
        <a:xfrm>
          <a:off x="1836080" y="1148"/>
          <a:ext cx="1440406" cy="14404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70" tIns="52070" rIns="52070" bIns="5207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l-PL" sz="4100" kern="1200" dirty="0" smtClean="0"/>
            <a:t>z(t)</a:t>
          </a:r>
          <a:endParaRPr lang="pl-PL" sz="4100" kern="1200" dirty="0"/>
        </a:p>
      </dsp:txBody>
      <dsp:txXfrm>
        <a:off x="1836080" y="1148"/>
        <a:ext cx="1440406" cy="1440406"/>
      </dsp:txXfrm>
    </dsp:sp>
    <dsp:sp modelId="{0A09B9B9-F478-4A07-A912-714A290B72BB}">
      <dsp:nvSpPr>
        <dsp:cNvPr id="0" name=""/>
        <dsp:cNvSpPr/>
      </dsp:nvSpPr>
      <dsp:spPr>
        <a:xfrm rot="2700000">
          <a:off x="3121859" y="1235314"/>
          <a:ext cx="382912" cy="4861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2100" kern="1200"/>
        </a:p>
      </dsp:txBody>
      <dsp:txXfrm rot="2700000">
        <a:off x="3121859" y="1235314"/>
        <a:ext cx="382912" cy="486137"/>
      </dsp:txXfrm>
    </dsp:sp>
    <dsp:sp modelId="{54FBE9A2-016C-4BEB-8172-2A883AAFE1A0}">
      <dsp:nvSpPr>
        <dsp:cNvPr id="0" name=""/>
        <dsp:cNvSpPr/>
      </dsp:nvSpPr>
      <dsp:spPr>
        <a:xfrm>
          <a:off x="3365469" y="1530536"/>
          <a:ext cx="1440406" cy="14404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70" tIns="52070" rIns="52070" bIns="5207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l-PL" sz="4100" kern="1200" dirty="0" smtClean="0"/>
            <a:t>ca(t)</a:t>
          </a:r>
          <a:endParaRPr lang="pl-PL" sz="4100" kern="1200" dirty="0"/>
        </a:p>
      </dsp:txBody>
      <dsp:txXfrm>
        <a:off x="3365469" y="1530536"/>
        <a:ext cx="1440406" cy="1440406"/>
      </dsp:txXfrm>
    </dsp:sp>
    <dsp:sp modelId="{DD94836F-2061-42E8-8E6E-F0B99F3D4662}">
      <dsp:nvSpPr>
        <dsp:cNvPr id="0" name=""/>
        <dsp:cNvSpPr/>
      </dsp:nvSpPr>
      <dsp:spPr>
        <a:xfrm rot="8100000">
          <a:off x="3137185" y="2764702"/>
          <a:ext cx="382912" cy="4861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2100" kern="1200"/>
        </a:p>
      </dsp:txBody>
      <dsp:txXfrm rot="8100000">
        <a:off x="3137185" y="2764702"/>
        <a:ext cx="382912" cy="486137"/>
      </dsp:txXfrm>
    </dsp:sp>
    <dsp:sp modelId="{1D2FC98D-48BA-4CD7-8AB2-1D8291C00C31}">
      <dsp:nvSpPr>
        <dsp:cNvPr id="0" name=""/>
        <dsp:cNvSpPr/>
      </dsp:nvSpPr>
      <dsp:spPr>
        <a:xfrm>
          <a:off x="1836080" y="3059925"/>
          <a:ext cx="1440406" cy="14404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70" tIns="52070" rIns="52070" bIns="5207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l-PL" sz="4100" kern="1200" dirty="0" err="1" smtClean="0"/>
            <a:t>cb</a:t>
          </a:r>
          <a:r>
            <a:rPr lang="pl-PL" sz="4100" kern="1200" dirty="0" smtClean="0"/>
            <a:t>(t)</a:t>
          </a:r>
          <a:endParaRPr lang="pl-PL" sz="4100" kern="1200" dirty="0"/>
        </a:p>
      </dsp:txBody>
      <dsp:txXfrm>
        <a:off x="1836080" y="3059925"/>
        <a:ext cx="1440406" cy="1440406"/>
      </dsp:txXfrm>
    </dsp:sp>
    <dsp:sp modelId="{CE303B66-BB21-4758-9D4D-A046E5CF2D57}">
      <dsp:nvSpPr>
        <dsp:cNvPr id="0" name=""/>
        <dsp:cNvSpPr/>
      </dsp:nvSpPr>
      <dsp:spPr>
        <a:xfrm rot="13500000">
          <a:off x="1607796" y="2780028"/>
          <a:ext cx="382912" cy="4861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2100" kern="1200"/>
        </a:p>
      </dsp:txBody>
      <dsp:txXfrm rot="13500000">
        <a:off x="1607796" y="2780028"/>
        <a:ext cx="382912" cy="486137"/>
      </dsp:txXfrm>
    </dsp:sp>
    <dsp:sp modelId="{3181A220-5D29-427F-8174-BD58D6FFD6B6}">
      <dsp:nvSpPr>
        <dsp:cNvPr id="0" name=""/>
        <dsp:cNvSpPr/>
      </dsp:nvSpPr>
      <dsp:spPr>
        <a:xfrm>
          <a:off x="306692" y="1530536"/>
          <a:ext cx="1440406" cy="14404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70" tIns="52070" rIns="52070" bIns="5207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l-PL" sz="4100" kern="1200" dirty="0" smtClean="0"/>
            <a:t>o(t)</a:t>
          </a:r>
          <a:endParaRPr lang="pl-PL" sz="4100" kern="1200" dirty="0"/>
        </a:p>
      </dsp:txBody>
      <dsp:txXfrm>
        <a:off x="306692" y="1530536"/>
        <a:ext cx="1440406" cy="1440406"/>
      </dsp:txXfrm>
    </dsp:sp>
    <dsp:sp modelId="{D2ACC1D6-17B1-4D54-A8BA-B91FFC3C5D45}">
      <dsp:nvSpPr>
        <dsp:cNvPr id="0" name=""/>
        <dsp:cNvSpPr/>
      </dsp:nvSpPr>
      <dsp:spPr>
        <a:xfrm rot="18900000">
          <a:off x="1592470" y="1250640"/>
          <a:ext cx="382912" cy="4861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2100" kern="1200"/>
        </a:p>
      </dsp:txBody>
      <dsp:txXfrm rot="18900000">
        <a:off x="1592470" y="1250640"/>
        <a:ext cx="382912" cy="4861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Prostokąt zaokrąglony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Podtytuł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l-PL" smtClean="0"/>
              <a:t>Kliknij, aby edytować styl wzorca podtytułu</a:t>
            </a:r>
            <a:endParaRPr kumimoji="0" lang="en-US"/>
          </a:p>
        </p:txBody>
      </p:sp>
      <p:sp>
        <p:nvSpPr>
          <p:cNvPr id="28" name="Symbol zastępczy daty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6DD3-F369-4BCD-80EB-4AEEB24FCA78}" type="datetimeFigureOut">
              <a:rPr lang="pl-PL" smtClean="0"/>
              <a:pPr/>
              <a:t>2021-03-02</a:t>
            </a:fld>
            <a:endParaRPr lang="pl-PL"/>
          </a:p>
        </p:txBody>
      </p:sp>
      <p:sp>
        <p:nvSpPr>
          <p:cNvPr id="17" name="Symbol zastępczy stopki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9" name="Symbol zastępczy numeru slajdu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C7A5249A-2EA1-4B03-8C8D-C6CF6FB21AF9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7" name="Prostokąt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Prostokąt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Prostokąt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ytuł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6DD3-F369-4BCD-80EB-4AEEB24FCA78}" type="datetimeFigureOut">
              <a:rPr lang="pl-PL" smtClean="0"/>
              <a:pPr/>
              <a:t>2021-03-02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249A-2EA1-4B03-8C8D-C6CF6FB21AF9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8" name="Symbol zastępczy zawartości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ostokąt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Prostokąt zaokrąglony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6DD3-F369-4BCD-80EB-4AEEB24FCA78}" type="datetimeFigureOut">
              <a:rPr lang="pl-PL" smtClean="0"/>
              <a:pPr/>
              <a:t>2021-03-02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pl-PL"/>
          </a:p>
        </p:txBody>
      </p:sp>
      <p:sp>
        <p:nvSpPr>
          <p:cNvPr id="7" name="Prostokąt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Prostokąt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Prostokąt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7A5249A-2EA1-4B03-8C8D-C6CF6FB21AF9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6DD3-F369-4BCD-80EB-4AEEB24FCA78}" type="datetimeFigureOut">
              <a:rPr lang="pl-PL" smtClean="0"/>
              <a:pPr/>
              <a:t>2021-03-02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249A-2EA1-4B03-8C8D-C6CF6FB21AF9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9" name="Symbol zastępczy zawartości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11" name="Symbol zastępczy zawartości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6DD3-F369-4BCD-80EB-4AEEB24FCA78}" type="datetimeFigureOut">
              <a:rPr lang="pl-PL" smtClean="0"/>
              <a:pPr/>
              <a:t>2021-03-02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249A-2EA1-4B03-8C8D-C6CF6FB21AF9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11" name="Symbol zastępczy zawartości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13" name="Symbol zastępczy zawartości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6DD3-F369-4BCD-80EB-4AEEB24FCA78}" type="datetimeFigureOut">
              <a:rPr lang="pl-PL" smtClean="0"/>
              <a:pPr/>
              <a:t>2021-03-02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249A-2EA1-4B03-8C8D-C6CF6FB21AF9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6DD3-F369-4BCD-80EB-4AEEB24FCA78}" type="datetimeFigureOut">
              <a:rPr lang="pl-PL" smtClean="0"/>
              <a:pPr/>
              <a:t>2021-03-02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249A-2EA1-4B03-8C8D-C6CF6FB21AF9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Prostokąt zaokrąglony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6DD3-F369-4BCD-80EB-4AEEB24FCA78}" type="datetimeFigureOut">
              <a:rPr lang="pl-PL" smtClean="0"/>
              <a:pPr/>
              <a:t>2021-03-02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249A-2EA1-4B03-8C8D-C6CF6FB21AF9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11" name="Symbol zastępczy zawartości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6DD3-F369-4BCD-80EB-4AEEB24FCA78}" type="datetimeFigureOut">
              <a:rPr lang="pl-PL" smtClean="0"/>
              <a:pPr/>
              <a:t>2021-03-02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7A5249A-2EA1-4B03-8C8D-C6CF6FB21AF9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11" name="Prostokąt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Prostokąt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Prostokąt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l-PL" smtClean="0"/>
              <a:t>Kliknij ikonę, aby dodać obraz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6DD3-F369-4BCD-80EB-4AEEB24FCA78}" type="datetimeFigureOut">
              <a:rPr lang="pl-PL" smtClean="0"/>
              <a:pPr/>
              <a:t>2021-03-02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249A-2EA1-4B03-8C8D-C6CF6FB21AF9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6DD3-F369-4BCD-80EB-4AEEB24FCA78}" type="datetimeFigureOut">
              <a:rPr lang="pl-PL" smtClean="0"/>
              <a:pPr/>
              <a:t>2021-03-02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249A-2EA1-4B03-8C8D-C6CF6FB21AF9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Prostokąt zaokrąglony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Symbol zastępczy tytułu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13" name="Symbol zastępczy tekstu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  <a:p>
            <a:pPr lvl="1" eaLnBrk="1" latinLnBrk="0" hangingPunct="1"/>
            <a:r>
              <a:rPr kumimoji="0" lang="pl-PL" smtClean="0"/>
              <a:t>Drugi poziom</a:t>
            </a:r>
          </a:p>
          <a:p>
            <a:pPr lvl="2" eaLnBrk="1" latinLnBrk="0" hangingPunct="1"/>
            <a:r>
              <a:rPr kumimoji="0" lang="pl-PL" smtClean="0"/>
              <a:t>Trzeci poziom</a:t>
            </a:r>
          </a:p>
          <a:p>
            <a:pPr lvl="3" eaLnBrk="1" latinLnBrk="0" hangingPunct="1"/>
            <a:r>
              <a:rPr kumimoji="0" lang="pl-PL" smtClean="0"/>
              <a:t>Czwarty poziom</a:t>
            </a:r>
          </a:p>
          <a:p>
            <a:pPr lvl="4" eaLnBrk="1" latinLnBrk="0" hangingPunct="1"/>
            <a:r>
              <a:rPr kumimoji="0" lang="pl-PL" smtClean="0"/>
              <a:t>Piąty poziom</a:t>
            </a:r>
            <a:endParaRPr kumimoji="0" lang="en-US"/>
          </a:p>
        </p:txBody>
      </p:sp>
      <p:sp>
        <p:nvSpPr>
          <p:cNvPr id="14" name="Symbol zastępczy daty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AB86DD3-F369-4BCD-80EB-4AEEB24FCA78}" type="datetimeFigureOut">
              <a:rPr lang="pl-PL" smtClean="0"/>
              <a:pPr/>
              <a:t>2021-03-02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23" name="Symbol zastępczy numeru slajdu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C7A5249A-2EA1-4B03-8C8D-C6CF6FB21AF9}" type="slidenum">
              <a:rPr lang="pl-PL" smtClean="0"/>
              <a:pPr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smtClean="0"/>
              <a:t>Uproszczony model symulacyjny epidemii</a:t>
            </a:r>
            <a:endParaRPr lang="pl-PL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 smtClean="0"/>
              <a:t>Problem</a:t>
            </a:r>
            <a:endParaRPr lang="pl-PL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l-PL" dirty="0" smtClean="0">
                <a:latin typeface="Arial" pitchFamily="34" charset="0"/>
                <a:cs typeface="Arial" pitchFamily="34" charset="0"/>
              </a:rPr>
              <a:t>Zbuduj model symulacyjny epidemii w grupie 488 zwierząt przyjmując za podstawę umowny jednostkowy czas symulacji. Choroba rozwija się w dwóch etapach:</a:t>
            </a:r>
          </a:p>
          <a:p>
            <a:pPr lvl="0" algn="just"/>
            <a:r>
              <a:rPr lang="pl-PL" dirty="0" smtClean="0">
                <a:latin typeface="Arial" pitchFamily="34" charset="0"/>
                <a:cs typeface="Arial" pitchFamily="34" charset="0"/>
              </a:rPr>
              <a:t>Pierwszy bezobjawowy, zwierze jednak zaraża,</a:t>
            </a:r>
          </a:p>
          <a:p>
            <a:pPr lvl="0" algn="just"/>
            <a:r>
              <a:rPr lang="pl-PL" dirty="0" smtClean="0">
                <a:latin typeface="Arial" pitchFamily="34" charset="0"/>
                <a:cs typeface="Arial" pitchFamily="34" charset="0"/>
              </a:rPr>
              <a:t>Drugi objawowy, zwierze w dalszym ciągu zaraża.</a:t>
            </a:r>
          </a:p>
          <a:p>
            <a:pPr marL="0" indent="0" algn="just">
              <a:buNone/>
            </a:pPr>
            <a:r>
              <a:rPr lang="pl-PL" dirty="0" smtClean="0">
                <a:latin typeface="Arial" pitchFamily="34" charset="0"/>
                <a:cs typeface="Arial" pitchFamily="34" charset="0"/>
              </a:rPr>
              <a:t>Każdy etap trwa jednostkowy czas symulacji. Końcem choroby może być wyzdrowienie lub śmierć. Wyzdrowienie łączy się z czasową odpornością na ponowne zarażenie, która trwa również jednostkowy czas symulacji.</a:t>
            </a:r>
            <a:endParaRPr lang="pl-PL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l-PL" sz="2500" dirty="0" smtClean="0"/>
              <a:t>Schemat układu zależności (nawiązując do metodologii system </a:t>
            </a:r>
            <a:r>
              <a:rPr lang="pl-PL" sz="2500" dirty="0" err="1" smtClean="0"/>
              <a:t>dynamics</a:t>
            </a:r>
            <a:r>
              <a:rPr lang="pl-PL" sz="2500" dirty="0" smtClean="0"/>
              <a:t> układ złożony z zasobów)</a:t>
            </a:r>
            <a:endParaRPr lang="pl-PL" sz="2500" dirty="0"/>
          </a:p>
        </p:txBody>
      </p:sp>
      <p:graphicFrame>
        <p:nvGraphicFramePr>
          <p:cNvPr id="6" name="Symbol zastępczy zawartości 5"/>
          <p:cNvGraphicFramePr>
            <a:graphicFrameLocks noGrp="1"/>
          </p:cNvGraphicFramePr>
          <p:nvPr>
            <p:ph sz="quarter" idx="1"/>
          </p:nvPr>
        </p:nvGraphicFramePr>
        <p:xfrm>
          <a:off x="3347864" y="1447800"/>
          <a:ext cx="5112568" cy="4501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Strzałka w lewo 7"/>
          <p:cNvSpPr/>
          <p:nvPr/>
        </p:nvSpPr>
        <p:spPr>
          <a:xfrm>
            <a:off x="4283968" y="5013176"/>
            <a:ext cx="576064" cy="504056"/>
          </a:xfrm>
          <a:prstGeom prst="leftArrow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pSp>
        <p:nvGrpSpPr>
          <p:cNvPr id="10" name="Grupa 9"/>
          <p:cNvGrpSpPr/>
          <p:nvPr/>
        </p:nvGrpSpPr>
        <p:grpSpPr>
          <a:xfrm>
            <a:off x="2699792" y="4581128"/>
            <a:ext cx="1440406" cy="1440406"/>
            <a:chOff x="1908088" y="1148"/>
            <a:chExt cx="1440406" cy="1440406"/>
          </a:xfrm>
        </p:grpSpPr>
        <p:sp>
          <p:nvSpPr>
            <p:cNvPr id="11" name="Elipsa 10"/>
            <p:cNvSpPr/>
            <p:nvPr/>
          </p:nvSpPr>
          <p:spPr>
            <a:xfrm>
              <a:off x="1908088" y="1148"/>
              <a:ext cx="1440406" cy="1440406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Elipsa 4"/>
            <p:cNvSpPr/>
            <p:nvPr/>
          </p:nvSpPr>
          <p:spPr>
            <a:xfrm>
              <a:off x="2047023" y="212090"/>
              <a:ext cx="1018520" cy="10185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2070" tIns="52070" rIns="52070" bIns="52070" numCol="1" spcCol="1270" anchor="ctr" anchorCtr="0">
              <a:noAutofit/>
            </a:bodyPr>
            <a:lstStyle/>
            <a:p>
              <a:pPr lvl="0" algn="ctr" defTabSz="1822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l-PL" sz="4100" kern="1200" dirty="0" smtClean="0"/>
                <a:t>u(t)</a:t>
              </a:r>
              <a:endParaRPr lang="pl-PL" sz="4100" kern="12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smtClean="0">
                <a:latin typeface="Arial" pitchFamily="34" charset="0"/>
                <a:cs typeface="Arial" pitchFamily="34" charset="0"/>
              </a:rPr>
              <a:t>Zmienne modelu</a:t>
            </a:r>
            <a:endParaRPr lang="pl-P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pl-PL" dirty="0" smtClean="0">
                <a:latin typeface="Arial" pitchFamily="34" charset="0"/>
                <a:cs typeface="Arial" pitchFamily="34" charset="0"/>
              </a:rPr>
              <a:t>z(t) – liczba zwierząt zdrowych w momencie t,</a:t>
            </a:r>
          </a:p>
          <a:p>
            <a:pPr>
              <a:buNone/>
            </a:pPr>
            <a:r>
              <a:rPr lang="pl-PL" dirty="0" smtClean="0">
                <a:latin typeface="Arial" pitchFamily="34" charset="0"/>
                <a:cs typeface="Arial" pitchFamily="34" charset="0"/>
              </a:rPr>
              <a:t>Z(0)- liczba zwierząt zdrowych w momencie startu symulacji,</a:t>
            </a:r>
          </a:p>
          <a:p>
            <a:pPr>
              <a:buNone/>
            </a:pPr>
            <a:r>
              <a:rPr lang="pl-PL" dirty="0" smtClean="0">
                <a:latin typeface="Arial" pitchFamily="34" charset="0"/>
                <a:cs typeface="Arial" pitchFamily="34" charset="0"/>
              </a:rPr>
              <a:t>ca(t) – liczba zwierząt chorych w pierwszej fazie w momencie t choroby,</a:t>
            </a:r>
          </a:p>
          <a:p>
            <a:pPr>
              <a:buNone/>
            </a:pPr>
            <a:r>
              <a:rPr lang="pl-PL" dirty="0" smtClean="0">
                <a:latin typeface="Arial" pitchFamily="34" charset="0"/>
                <a:cs typeface="Arial" pitchFamily="34" charset="0"/>
              </a:rPr>
              <a:t>ca(0) – liczba zwierząt chorych w pierwszej fazie choroby w momencie startu symulacji,</a:t>
            </a:r>
          </a:p>
          <a:p>
            <a:pPr>
              <a:buNone/>
            </a:pPr>
            <a:r>
              <a:rPr lang="pl-PL" dirty="0" err="1" smtClean="0">
                <a:latin typeface="Arial" pitchFamily="34" charset="0"/>
                <a:cs typeface="Arial" pitchFamily="34" charset="0"/>
              </a:rPr>
              <a:t>cb</a:t>
            </a:r>
            <a:r>
              <a:rPr lang="pl-PL" dirty="0" smtClean="0">
                <a:latin typeface="Arial" pitchFamily="34" charset="0"/>
                <a:cs typeface="Arial" pitchFamily="34" charset="0"/>
              </a:rPr>
              <a:t>(t) – liczba zwierząt chorych w drugiej fazie choroby w momencie t,</a:t>
            </a:r>
          </a:p>
          <a:p>
            <a:pPr>
              <a:buNone/>
            </a:pPr>
            <a:r>
              <a:rPr lang="pl-PL" dirty="0" err="1" smtClean="0">
                <a:latin typeface="Arial" pitchFamily="34" charset="0"/>
                <a:cs typeface="Arial" pitchFamily="34" charset="0"/>
              </a:rPr>
              <a:t>cb</a:t>
            </a:r>
            <a:r>
              <a:rPr lang="pl-PL" dirty="0" smtClean="0">
                <a:latin typeface="Arial" pitchFamily="34" charset="0"/>
                <a:cs typeface="Arial" pitchFamily="34" charset="0"/>
              </a:rPr>
              <a:t>(0) – liczba zwierząt chorych w drugiej fazie choroby w momencie startu symulacji,</a:t>
            </a:r>
          </a:p>
          <a:p>
            <a:pPr>
              <a:buNone/>
            </a:pPr>
            <a:r>
              <a:rPr lang="pl-PL" dirty="0" smtClean="0">
                <a:latin typeface="Arial" pitchFamily="34" charset="0"/>
                <a:cs typeface="Arial" pitchFamily="34" charset="0"/>
              </a:rPr>
              <a:t>o(t) – liczba zwierząt odpornych w momencie t,</a:t>
            </a:r>
          </a:p>
          <a:p>
            <a:pPr>
              <a:buNone/>
            </a:pPr>
            <a:r>
              <a:rPr lang="pl-PL" dirty="0" smtClean="0">
                <a:latin typeface="Arial" pitchFamily="34" charset="0"/>
                <a:cs typeface="Arial" pitchFamily="34" charset="0"/>
              </a:rPr>
              <a:t>o(0) – liczba zwierząt odpornych w momencie startu symulacji,</a:t>
            </a:r>
          </a:p>
          <a:p>
            <a:pPr>
              <a:buNone/>
            </a:pPr>
            <a:r>
              <a:rPr lang="pl-PL" dirty="0" smtClean="0">
                <a:latin typeface="Arial" pitchFamily="34" charset="0"/>
                <a:cs typeface="Arial" pitchFamily="34" charset="0"/>
              </a:rPr>
              <a:t>u</a:t>
            </a:r>
            <a:r>
              <a:rPr lang="pl-PL" dirty="0" smtClean="0">
                <a:latin typeface="Arial" pitchFamily="34" charset="0"/>
                <a:cs typeface="Arial" pitchFamily="34" charset="0"/>
              </a:rPr>
              <a:t>(t</a:t>
            </a:r>
            <a:r>
              <a:rPr lang="pl-PL" dirty="0" smtClean="0">
                <a:latin typeface="Arial" pitchFamily="34" charset="0"/>
                <a:cs typeface="Arial" pitchFamily="34" charset="0"/>
              </a:rPr>
              <a:t>) – liczba zwierząt nieżywych w momencie t,</a:t>
            </a:r>
          </a:p>
          <a:p>
            <a:pPr>
              <a:buNone/>
            </a:pPr>
            <a:r>
              <a:rPr lang="pl-PL" dirty="0" smtClean="0">
                <a:latin typeface="Arial" pitchFamily="34" charset="0"/>
                <a:cs typeface="Arial" pitchFamily="34" charset="0"/>
              </a:rPr>
              <a:t>u</a:t>
            </a:r>
            <a:r>
              <a:rPr lang="pl-PL" dirty="0" smtClean="0">
                <a:latin typeface="Arial" pitchFamily="34" charset="0"/>
                <a:cs typeface="Arial" pitchFamily="34" charset="0"/>
              </a:rPr>
              <a:t>(0</a:t>
            </a:r>
            <a:r>
              <a:rPr lang="pl-PL" dirty="0" smtClean="0">
                <a:latin typeface="Arial" pitchFamily="34" charset="0"/>
                <a:cs typeface="Arial" pitchFamily="34" charset="0"/>
              </a:rPr>
              <a:t>) – liczba zwierząt nieżywych w momencie startu symulacji,</a:t>
            </a:r>
          </a:p>
          <a:p>
            <a:pPr>
              <a:buNone/>
            </a:pPr>
            <a:endParaRPr lang="pl-PL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l-PL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l-PL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sz="2500" dirty="0" smtClean="0"/>
              <a:t>Układ równań modelu zgodny z założeniami metodologii system </a:t>
            </a:r>
            <a:r>
              <a:rPr lang="pl-PL" sz="2500" dirty="0" err="1" smtClean="0"/>
              <a:t>dynamics</a:t>
            </a:r>
            <a:r>
              <a:rPr lang="pl-PL" sz="2500" dirty="0" smtClean="0"/>
              <a:t>)</a:t>
            </a:r>
            <a:endParaRPr lang="pl-PL" sz="2500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pl-PL" dirty="0" smtClean="0">
                <a:latin typeface="Arial" pitchFamily="34" charset="0"/>
                <a:cs typeface="Arial" pitchFamily="34" charset="0"/>
              </a:rPr>
              <a:t>Podstawowym założeniem dla takiego modelu jest wykorzystanie równań różnicowych ze względu na dyskretny opis badanego zjawiska</a:t>
            </a:r>
          </a:p>
          <a:p>
            <a:pPr marL="0" indent="0" algn="just">
              <a:buNone/>
            </a:pPr>
            <a:endParaRPr lang="pl-PL" dirty="0" smtClean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r>
              <a:rPr lang="pl-PL" dirty="0" smtClean="0">
                <a:latin typeface="Arial" pitchFamily="34" charset="0"/>
                <a:cs typeface="Arial" pitchFamily="34" charset="0"/>
              </a:rPr>
              <a:t>x(t+1)=x(t)+</a:t>
            </a: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x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(t+1)</a:t>
            </a:r>
          </a:p>
          <a:p>
            <a:pPr marL="0" indent="0" algn="just">
              <a:buNone/>
            </a:pP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x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(t+1)=</a:t>
            </a: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px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(t+1)-</a:t>
            </a: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sx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(t+1)</a:t>
            </a:r>
          </a:p>
          <a:p>
            <a:pPr marL="0" indent="0" algn="just">
              <a:buNone/>
            </a:pP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Gdzie</a:t>
            </a:r>
          </a:p>
          <a:p>
            <a:pPr marL="0" indent="0" algn="just">
              <a:buNone/>
            </a:pP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x(t) – wartość zmiennej (poziom zasobu) dla momentu czasu t,</a:t>
            </a:r>
          </a:p>
          <a:p>
            <a:pPr marL="0" indent="0" algn="just">
              <a:buNone/>
            </a:pP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x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(t+1) – zmiana wartości zmiennej (poziomu zasobu) w jednostce czasu od t do t+1,</a:t>
            </a:r>
          </a:p>
          <a:p>
            <a:pPr marL="0" indent="0" algn="just">
              <a:buNone/>
            </a:pP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px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(t+1) – przyrost wartości zmiennej (poziomu zasobu) w jednostce czasu od t do t+1, wyznaczany przy pomocy  funkcji, której postać wynika z wiedzy na temat badanego zjawiska  uzyskanej także przy pomocy metod analizy danych ,</a:t>
            </a:r>
          </a:p>
          <a:p>
            <a:pPr marL="0" indent="0" algn="just">
              <a:buNone/>
            </a:pP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sx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(t+1) – spadek wartości zmiennej (poziomu zasobu) w jednostce czasu od t do t+1, wyznaczany przy pomocy  funkcji, której postać wynika z wiedzy na temat badanego zjawiska  uzyskanej także przy pomocy metod analizy danych ,</a:t>
            </a:r>
            <a:endParaRPr lang="pl-PL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smtClean="0"/>
              <a:t>Ogólny układ modelu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pl-PL" dirty="0" smtClean="0"/>
              <a:t>z(t+1)=z(t)+</a:t>
            </a:r>
            <a:r>
              <a:rPr lang="pl-PL" dirty="0" err="1" smtClean="0">
                <a:sym typeface="Symbol"/>
              </a:rPr>
              <a:t>z</a:t>
            </a:r>
            <a:r>
              <a:rPr lang="pl-PL" dirty="0" smtClean="0">
                <a:sym typeface="Symbol"/>
              </a:rPr>
              <a:t>(t+1)</a:t>
            </a:r>
          </a:p>
          <a:p>
            <a:pPr>
              <a:buNone/>
            </a:pPr>
            <a:r>
              <a:rPr lang="pl-PL" dirty="0" err="1" smtClean="0">
                <a:sym typeface="Symbol"/>
              </a:rPr>
              <a:t>z</a:t>
            </a:r>
            <a:r>
              <a:rPr lang="pl-PL" dirty="0" smtClean="0">
                <a:sym typeface="Symbol"/>
              </a:rPr>
              <a:t>(t+1)=</a:t>
            </a:r>
            <a:r>
              <a:rPr lang="pl-PL" dirty="0" err="1" smtClean="0">
                <a:sym typeface="Symbol"/>
              </a:rPr>
              <a:t>pz</a:t>
            </a:r>
            <a:r>
              <a:rPr lang="pl-PL" dirty="0" smtClean="0">
                <a:sym typeface="Symbol"/>
              </a:rPr>
              <a:t>(t+1)-</a:t>
            </a:r>
            <a:r>
              <a:rPr lang="pl-PL" dirty="0" err="1" smtClean="0">
                <a:sym typeface="Symbol"/>
              </a:rPr>
              <a:t>sz</a:t>
            </a:r>
            <a:r>
              <a:rPr lang="pl-PL" dirty="0" smtClean="0">
                <a:sym typeface="Symbol"/>
              </a:rPr>
              <a:t>(t+1)</a:t>
            </a:r>
          </a:p>
          <a:p>
            <a:pPr>
              <a:buNone/>
            </a:pPr>
            <a:r>
              <a:rPr lang="pl-PL" dirty="0" smtClean="0"/>
              <a:t>ca(t+1)=ca(t)+</a:t>
            </a:r>
            <a:r>
              <a:rPr lang="pl-PL" dirty="0" err="1" smtClean="0">
                <a:sym typeface="Symbol"/>
              </a:rPr>
              <a:t>ca</a:t>
            </a:r>
            <a:r>
              <a:rPr lang="pl-PL" dirty="0" smtClean="0">
                <a:sym typeface="Symbol"/>
              </a:rPr>
              <a:t>(t+1)</a:t>
            </a:r>
            <a:endParaRPr lang="pl-PL" dirty="0" smtClean="0"/>
          </a:p>
          <a:p>
            <a:pPr>
              <a:buNone/>
            </a:pPr>
            <a:r>
              <a:rPr lang="pl-PL" dirty="0" err="1" smtClean="0">
                <a:sym typeface="Symbol"/>
              </a:rPr>
              <a:t>ca</a:t>
            </a:r>
            <a:r>
              <a:rPr lang="pl-PL" dirty="0" smtClean="0">
                <a:sym typeface="Symbol"/>
              </a:rPr>
              <a:t>(t+1)=</a:t>
            </a:r>
            <a:r>
              <a:rPr lang="pl-PL" dirty="0" err="1" smtClean="0">
                <a:sym typeface="Symbol"/>
              </a:rPr>
              <a:t>pca</a:t>
            </a:r>
            <a:r>
              <a:rPr lang="pl-PL" dirty="0" smtClean="0">
                <a:sym typeface="Symbol"/>
              </a:rPr>
              <a:t>(t+1)-</a:t>
            </a:r>
            <a:r>
              <a:rPr lang="pl-PL" dirty="0" err="1" smtClean="0">
                <a:sym typeface="Symbol"/>
              </a:rPr>
              <a:t>sca</a:t>
            </a:r>
            <a:r>
              <a:rPr lang="pl-PL" dirty="0" smtClean="0">
                <a:sym typeface="Symbol"/>
              </a:rPr>
              <a:t>(t+1)</a:t>
            </a:r>
          </a:p>
          <a:p>
            <a:pPr>
              <a:buNone/>
            </a:pPr>
            <a:r>
              <a:rPr lang="pl-PL" dirty="0" err="1" smtClean="0"/>
              <a:t>cb</a:t>
            </a:r>
            <a:r>
              <a:rPr lang="pl-PL" dirty="0" smtClean="0"/>
              <a:t>(t+1)=</a:t>
            </a:r>
            <a:r>
              <a:rPr lang="pl-PL" dirty="0" err="1" smtClean="0"/>
              <a:t>cb</a:t>
            </a:r>
            <a:r>
              <a:rPr lang="pl-PL" dirty="0" smtClean="0"/>
              <a:t> (t)+</a:t>
            </a:r>
            <a:r>
              <a:rPr lang="pl-PL" dirty="0" err="1" smtClean="0">
                <a:sym typeface="Symbol"/>
              </a:rPr>
              <a:t></a:t>
            </a:r>
            <a:r>
              <a:rPr lang="pl-PL" dirty="0" err="1" smtClean="0"/>
              <a:t>cb</a:t>
            </a:r>
            <a:r>
              <a:rPr lang="pl-PL" dirty="0" smtClean="0"/>
              <a:t> </a:t>
            </a:r>
            <a:r>
              <a:rPr lang="pl-PL" dirty="0" smtClean="0">
                <a:sym typeface="Symbol"/>
              </a:rPr>
              <a:t>(t+1)</a:t>
            </a:r>
            <a:endParaRPr lang="pl-PL" dirty="0" smtClean="0"/>
          </a:p>
          <a:p>
            <a:pPr>
              <a:buNone/>
            </a:pPr>
            <a:r>
              <a:rPr lang="pl-PL" dirty="0" err="1" smtClean="0">
                <a:sym typeface="Symbol"/>
              </a:rPr>
              <a:t>cb</a:t>
            </a:r>
            <a:r>
              <a:rPr lang="pl-PL" dirty="0" smtClean="0">
                <a:sym typeface="Symbol"/>
              </a:rPr>
              <a:t>(t+1)=</a:t>
            </a:r>
            <a:r>
              <a:rPr lang="pl-PL" dirty="0" err="1" smtClean="0">
                <a:sym typeface="Symbol"/>
              </a:rPr>
              <a:t>pcb</a:t>
            </a:r>
            <a:r>
              <a:rPr lang="pl-PL" dirty="0" smtClean="0">
                <a:sym typeface="Symbol"/>
              </a:rPr>
              <a:t>(t+1)-</a:t>
            </a:r>
            <a:r>
              <a:rPr lang="pl-PL" dirty="0" err="1" smtClean="0">
                <a:sym typeface="Symbol"/>
              </a:rPr>
              <a:t>scb</a:t>
            </a:r>
            <a:r>
              <a:rPr lang="pl-PL" dirty="0" smtClean="0">
                <a:sym typeface="Symbol"/>
              </a:rPr>
              <a:t>(t+1)</a:t>
            </a:r>
          </a:p>
          <a:p>
            <a:pPr>
              <a:buNone/>
            </a:pPr>
            <a:r>
              <a:rPr lang="pl-PL" dirty="0" smtClean="0"/>
              <a:t>o(t+1)=o(t)+</a:t>
            </a:r>
            <a:r>
              <a:rPr lang="pl-PL" dirty="0" err="1" smtClean="0">
                <a:sym typeface="Symbol"/>
              </a:rPr>
              <a:t>o</a:t>
            </a:r>
            <a:r>
              <a:rPr lang="pl-PL" dirty="0" smtClean="0">
                <a:sym typeface="Symbol"/>
              </a:rPr>
              <a:t>(t+1)</a:t>
            </a:r>
            <a:endParaRPr lang="pl-PL" dirty="0" smtClean="0"/>
          </a:p>
          <a:p>
            <a:pPr>
              <a:buNone/>
            </a:pPr>
            <a:r>
              <a:rPr lang="pl-PL" dirty="0" err="1" smtClean="0">
                <a:sym typeface="Symbol"/>
              </a:rPr>
              <a:t>o</a:t>
            </a:r>
            <a:r>
              <a:rPr lang="pl-PL" dirty="0" smtClean="0">
                <a:sym typeface="Symbol"/>
              </a:rPr>
              <a:t>(t+1)=po(t+1)-so(t+1)</a:t>
            </a:r>
          </a:p>
          <a:p>
            <a:pPr>
              <a:buNone/>
            </a:pPr>
            <a:r>
              <a:rPr lang="pl-PL" dirty="0" smtClean="0"/>
              <a:t>u(t+1)=u(t)+</a:t>
            </a:r>
            <a:r>
              <a:rPr lang="pl-PL" dirty="0" err="1" smtClean="0">
                <a:sym typeface="Symbol"/>
              </a:rPr>
              <a:t>u</a:t>
            </a:r>
            <a:r>
              <a:rPr lang="pl-PL" dirty="0" smtClean="0">
                <a:sym typeface="Symbol"/>
              </a:rPr>
              <a:t>(t+1)</a:t>
            </a:r>
            <a:endParaRPr lang="pl-PL" dirty="0" smtClean="0"/>
          </a:p>
          <a:p>
            <a:pPr>
              <a:buNone/>
            </a:pPr>
            <a:r>
              <a:rPr lang="pl-PL" dirty="0" err="1" smtClean="0">
                <a:sym typeface="Symbol"/>
              </a:rPr>
              <a:t>u</a:t>
            </a:r>
            <a:r>
              <a:rPr lang="pl-PL" dirty="0" smtClean="0">
                <a:sym typeface="Symbol"/>
              </a:rPr>
              <a:t>(t+1)=</a:t>
            </a:r>
            <a:r>
              <a:rPr lang="pl-PL" dirty="0" err="1" smtClean="0">
                <a:sym typeface="Symbol"/>
              </a:rPr>
              <a:t>pu</a:t>
            </a:r>
            <a:r>
              <a:rPr lang="pl-PL" dirty="0" smtClean="0">
                <a:sym typeface="Symbol"/>
              </a:rPr>
              <a:t>(t+1)-su (t+1)</a:t>
            </a:r>
          </a:p>
          <a:p>
            <a:pPr>
              <a:buNone/>
            </a:pPr>
            <a:endParaRPr lang="pl-PL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smtClean="0"/>
              <a:t>Ogólny układ modelu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l-PL" dirty="0" smtClean="0"/>
              <a:t>z(t+1)=z(t)+</a:t>
            </a:r>
            <a:r>
              <a:rPr lang="pl-PL" dirty="0" smtClean="0">
                <a:sym typeface="Symbol"/>
              </a:rPr>
              <a:t> </a:t>
            </a:r>
            <a:r>
              <a:rPr lang="pl-PL" dirty="0" err="1" smtClean="0">
                <a:sym typeface="Symbol"/>
              </a:rPr>
              <a:t>pz</a:t>
            </a:r>
            <a:r>
              <a:rPr lang="pl-PL" dirty="0" smtClean="0">
                <a:sym typeface="Symbol"/>
              </a:rPr>
              <a:t>(t+1)-</a:t>
            </a:r>
            <a:r>
              <a:rPr lang="pl-PL" dirty="0" err="1" smtClean="0">
                <a:sym typeface="Symbol"/>
              </a:rPr>
              <a:t>sz</a:t>
            </a:r>
            <a:r>
              <a:rPr lang="pl-PL" dirty="0" smtClean="0">
                <a:sym typeface="Symbol"/>
              </a:rPr>
              <a:t>(t+1)</a:t>
            </a:r>
          </a:p>
          <a:p>
            <a:pPr>
              <a:buNone/>
            </a:pPr>
            <a:r>
              <a:rPr lang="pl-PL" dirty="0" smtClean="0"/>
              <a:t>ca(t+1)=ca(t)+</a:t>
            </a:r>
            <a:r>
              <a:rPr lang="pl-PL" dirty="0" smtClean="0">
                <a:sym typeface="Symbol"/>
              </a:rPr>
              <a:t> </a:t>
            </a:r>
            <a:r>
              <a:rPr lang="pl-PL" dirty="0" err="1" smtClean="0">
                <a:sym typeface="Symbol"/>
              </a:rPr>
              <a:t>pca</a:t>
            </a:r>
            <a:r>
              <a:rPr lang="pl-PL" dirty="0" smtClean="0">
                <a:sym typeface="Symbol"/>
              </a:rPr>
              <a:t>(t+1)-</a:t>
            </a:r>
            <a:r>
              <a:rPr lang="pl-PL" dirty="0" err="1" smtClean="0">
                <a:sym typeface="Symbol"/>
              </a:rPr>
              <a:t>sca</a:t>
            </a:r>
            <a:r>
              <a:rPr lang="pl-PL" dirty="0" smtClean="0">
                <a:sym typeface="Symbol"/>
              </a:rPr>
              <a:t>(t+1)</a:t>
            </a:r>
            <a:endParaRPr lang="pl-PL" dirty="0" smtClean="0"/>
          </a:p>
          <a:p>
            <a:pPr>
              <a:buNone/>
            </a:pPr>
            <a:r>
              <a:rPr lang="pl-PL" dirty="0" err="1" smtClean="0"/>
              <a:t>cb</a:t>
            </a:r>
            <a:r>
              <a:rPr lang="pl-PL" dirty="0" smtClean="0"/>
              <a:t>(t+1)=</a:t>
            </a:r>
            <a:r>
              <a:rPr lang="pl-PL" dirty="0" err="1" smtClean="0"/>
              <a:t>cb</a:t>
            </a:r>
            <a:r>
              <a:rPr lang="pl-PL" dirty="0" smtClean="0"/>
              <a:t> (t)+</a:t>
            </a:r>
            <a:r>
              <a:rPr lang="pl-PL" dirty="0" smtClean="0">
                <a:sym typeface="Symbol"/>
              </a:rPr>
              <a:t> </a:t>
            </a:r>
            <a:r>
              <a:rPr lang="pl-PL" dirty="0" err="1" smtClean="0">
                <a:sym typeface="Symbol"/>
              </a:rPr>
              <a:t>pcb</a:t>
            </a:r>
            <a:r>
              <a:rPr lang="pl-PL" dirty="0" smtClean="0">
                <a:sym typeface="Symbol"/>
              </a:rPr>
              <a:t>(t+1)-</a:t>
            </a:r>
            <a:r>
              <a:rPr lang="pl-PL" dirty="0" err="1" smtClean="0">
                <a:sym typeface="Symbol"/>
              </a:rPr>
              <a:t>scb</a:t>
            </a:r>
            <a:r>
              <a:rPr lang="pl-PL" dirty="0" smtClean="0">
                <a:sym typeface="Symbol"/>
              </a:rPr>
              <a:t>(t+1)</a:t>
            </a:r>
            <a:endParaRPr lang="pl-PL" dirty="0" smtClean="0"/>
          </a:p>
          <a:p>
            <a:pPr>
              <a:buNone/>
            </a:pPr>
            <a:r>
              <a:rPr lang="pl-PL" dirty="0" smtClean="0"/>
              <a:t>o(t+1)=o(t)+</a:t>
            </a:r>
            <a:r>
              <a:rPr lang="pl-PL" dirty="0" smtClean="0">
                <a:sym typeface="Symbol"/>
              </a:rPr>
              <a:t> po(t+1)-so(t+1)</a:t>
            </a:r>
            <a:endParaRPr lang="pl-PL" dirty="0" smtClean="0"/>
          </a:p>
          <a:p>
            <a:pPr>
              <a:buNone/>
            </a:pPr>
            <a:r>
              <a:rPr lang="pl-PL" dirty="0" smtClean="0"/>
              <a:t>u(t+1)=u(t)+</a:t>
            </a:r>
            <a:r>
              <a:rPr lang="pl-PL" dirty="0" smtClean="0">
                <a:sym typeface="Symbol"/>
              </a:rPr>
              <a:t> </a:t>
            </a:r>
            <a:r>
              <a:rPr lang="pl-PL" dirty="0" err="1" smtClean="0">
                <a:sym typeface="Symbol"/>
              </a:rPr>
              <a:t>pu</a:t>
            </a:r>
            <a:r>
              <a:rPr lang="pl-PL" dirty="0" smtClean="0">
                <a:sym typeface="Symbol"/>
              </a:rPr>
              <a:t>(t+1)</a:t>
            </a:r>
            <a:endParaRPr lang="pl-PL" dirty="0" smtClean="0"/>
          </a:p>
          <a:p>
            <a:pPr>
              <a:buNone/>
            </a:pPr>
            <a:endParaRPr lang="pl-PL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smtClean="0"/>
              <a:t>Ogólny układ modelu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l-PL" dirty="0" smtClean="0">
                <a:latin typeface="Arial" pitchFamily="34" charset="0"/>
                <a:cs typeface="Arial" pitchFamily="34" charset="0"/>
              </a:rPr>
              <a:t>Można jednak zauważyć, że</a:t>
            </a:r>
          </a:p>
          <a:p>
            <a:pPr>
              <a:buNone/>
            </a:pPr>
            <a:r>
              <a:rPr lang="pl-PL" dirty="0" smtClean="0">
                <a:sym typeface="Symbol"/>
              </a:rPr>
              <a:t>so(t+1) = </a:t>
            </a:r>
            <a:r>
              <a:rPr lang="pl-PL" dirty="0" err="1" smtClean="0">
                <a:sym typeface="Symbol"/>
              </a:rPr>
              <a:t>pz</a:t>
            </a:r>
            <a:r>
              <a:rPr lang="pl-PL" dirty="0" smtClean="0">
                <a:sym typeface="Symbol"/>
              </a:rPr>
              <a:t>(t+1)=o(t)</a:t>
            </a:r>
          </a:p>
          <a:p>
            <a:pPr>
              <a:buNone/>
            </a:pPr>
            <a:r>
              <a:rPr lang="pl-PL" dirty="0" err="1" smtClean="0">
                <a:sym typeface="Symbol"/>
              </a:rPr>
              <a:t>sz</a:t>
            </a:r>
            <a:r>
              <a:rPr lang="pl-PL" dirty="0" smtClean="0">
                <a:sym typeface="Symbol"/>
              </a:rPr>
              <a:t>(t+1)=</a:t>
            </a:r>
            <a:r>
              <a:rPr lang="pl-PL" dirty="0" err="1" smtClean="0">
                <a:sym typeface="Symbol"/>
              </a:rPr>
              <a:t>pca</a:t>
            </a:r>
            <a:r>
              <a:rPr lang="pl-PL" dirty="0" smtClean="0">
                <a:sym typeface="Symbol"/>
              </a:rPr>
              <a:t>(t+1)</a:t>
            </a:r>
          </a:p>
          <a:p>
            <a:pPr>
              <a:buNone/>
            </a:pPr>
            <a:r>
              <a:rPr lang="pl-PL" dirty="0" err="1" smtClean="0">
                <a:sym typeface="Symbol"/>
              </a:rPr>
              <a:t>sca</a:t>
            </a:r>
            <a:r>
              <a:rPr lang="pl-PL" dirty="0" smtClean="0">
                <a:sym typeface="Symbol"/>
              </a:rPr>
              <a:t>(t+1)=</a:t>
            </a:r>
            <a:r>
              <a:rPr lang="pl-PL" dirty="0" err="1" smtClean="0">
                <a:sym typeface="Symbol"/>
              </a:rPr>
              <a:t>pcb</a:t>
            </a:r>
            <a:r>
              <a:rPr lang="pl-PL" dirty="0" smtClean="0">
                <a:sym typeface="Symbol"/>
              </a:rPr>
              <a:t>(t+1)=ca(t)</a:t>
            </a:r>
          </a:p>
          <a:p>
            <a:pPr>
              <a:buNone/>
            </a:pPr>
            <a:r>
              <a:rPr lang="pl-PL" dirty="0" err="1" smtClean="0">
                <a:sym typeface="Symbol"/>
              </a:rPr>
              <a:t>scb</a:t>
            </a:r>
            <a:r>
              <a:rPr lang="pl-PL" dirty="0" smtClean="0">
                <a:sym typeface="Symbol"/>
              </a:rPr>
              <a:t>(t+1)=po(t+1)+ </a:t>
            </a:r>
            <a:r>
              <a:rPr lang="pl-PL" dirty="0" err="1" smtClean="0">
                <a:sym typeface="Symbol"/>
              </a:rPr>
              <a:t>pu</a:t>
            </a:r>
            <a:r>
              <a:rPr lang="pl-PL" dirty="0" smtClean="0">
                <a:sym typeface="Symbol"/>
              </a:rPr>
              <a:t>(t+1)=</a:t>
            </a:r>
            <a:r>
              <a:rPr lang="pl-PL" dirty="0" err="1" smtClean="0">
                <a:sym typeface="Symbol"/>
              </a:rPr>
              <a:t>cb</a:t>
            </a:r>
            <a:r>
              <a:rPr lang="pl-PL" dirty="0" smtClean="0">
                <a:sym typeface="Symbol"/>
              </a:rPr>
              <a:t>(t)</a:t>
            </a:r>
          </a:p>
          <a:p>
            <a:pPr>
              <a:buNone/>
            </a:pPr>
            <a:endParaRPr lang="pl-PL" dirty="0" smtClean="0">
              <a:sym typeface="Symbol"/>
            </a:endParaRPr>
          </a:p>
          <a:p>
            <a:pPr>
              <a:buNone/>
            </a:pPr>
            <a:endParaRPr lang="pl-PL" dirty="0" smtClean="0">
              <a:sym typeface="Symbol"/>
            </a:endParaRPr>
          </a:p>
          <a:p>
            <a:pPr>
              <a:buNone/>
            </a:pPr>
            <a:endParaRPr lang="pl-PL" dirty="0" smtClean="0">
              <a:sym typeface="Symbol"/>
            </a:endParaRPr>
          </a:p>
          <a:p>
            <a:pPr>
              <a:buNone/>
            </a:pPr>
            <a:endParaRPr lang="pl-PL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l-PL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smtClean="0"/>
              <a:t>Ogólny układ modelu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l-PL" dirty="0" smtClean="0"/>
              <a:t>z(t+1)=z(t)+</a:t>
            </a:r>
            <a:r>
              <a:rPr lang="pl-PL" dirty="0" smtClean="0">
                <a:sym typeface="Symbol"/>
              </a:rPr>
              <a:t> o(t) - </a:t>
            </a:r>
            <a:r>
              <a:rPr lang="pl-PL" dirty="0" err="1" smtClean="0">
                <a:sym typeface="Symbol"/>
              </a:rPr>
              <a:t>pca</a:t>
            </a:r>
            <a:r>
              <a:rPr lang="pl-PL" dirty="0" smtClean="0">
                <a:sym typeface="Symbol"/>
              </a:rPr>
              <a:t>(t+1)</a:t>
            </a:r>
          </a:p>
          <a:p>
            <a:pPr>
              <a:buNone/>
            </a:pPr>
            <a:r>
              <a:rPr lang="pl-PL" dirty="0" smtClean="0"/>
              <a:t>ca(t+1)=ca(t)+</a:t>
            </a:r>
            <a:r>
              <a:rPr lang="pl-PL" dirty="0" smtClean="0">
                <a:sym typeface="Symbol"/>
              </a:rPr>
              <a:t> </a:t>
            </a:r>
            <a:r>
              <a:rPr lang="pl-PL" dirty="0" err="1" smtClean="0">
                <a:sym typeface="Symbol"/>
              </a:rPr>
              <a:t>pca</a:t>
            </a:r>
            <a:r>
              <a:rPr lang="pl-PL" dirty="0" smtClean="0">
                <a:sym typeface="Symbol"/>
              </a:rPr>
              <a:t>(t+1)- ca(t)=</a:t>
            </a:r>
            <a:r>
              <a:rPr lang="pl-PL" dirty="0" err="1" smtClean="0">
                <a:sym typeface="Symbol"/>
              </a:rPr>
              <a:t>pca</a:t>
            </a:r>
            <a:r>
              <a:rPr lang="pl-PL" dirty="0" smtClean="0">
                <a:sym typeface="Symbol"/>
              </a:rPr>
              <a:t>(t+1)</a:t>
            </a:r>
            <a:endParaRPr lang="pl-PL" dirty="0" smtClean="0"/>
          </a:p>
          <a:p>
            <a:pPr>
              <a:buNone/>
            </a:pPr>
            <a:r>
              <a:rPr lang="pl-PL" dirty="0" err="1" smtClean="0"/>
              <a:t>cb</a:t>
            </a:r>
            <a:r>
              <a:rPr lang="pl-PL" dirty="0" smtClean="0"/>
              <a:t>(t+1)=</a:t>
            </a:r>
            <a:r>
              <a:rPr lang="pl-PL" dirty="0" err="1" smtClean="0"/>
              <a:t>cb</a:t>
            </a:r>
            <a:r>
              <a:rPr lang="pl-PL" dirty="0" smtClean="0"/>
              <a:t> (t)+</a:t>
            </a:r>
            <a:r>
              <a:rPr lang="pl-PL" dirty="0" smtClean="0">
                <a:sym typeface="Symbol"/>
              </a:rPr>
              <a:t> ca(t) - </a:t>
            </a:r>
            <a:r>
              <a:rPr lang="pl-PL" dirty="0" err="1" smtClean="0"/>
              <a:t>cb</a:t>
            </a:r>
            <a:r>
              <a:rPr lang="pl-PL" dirty="0" smtClean="0"/>
              <a:t> (t)=</a:t>
            </a:r>
            <a:r>
              <a:rPr lang="pl-PL" dirty="0" smtClean="0">
                <a:sym typeface="Symbol"/>
              </a:rPr>
              <a:t> ca(t)</a:t>
            </a:r>
            <a:endParaRPr lang="pl-PL" dirty="0" smtClean="0"/>
          </a:p>
          <a:p>
            <a:pPr>
              <a:buNone/>
            </a:pPr>
            <a:r>
              <a:rPr lang="pl-PL" dirty="0" smtClean="0"/>
              <a:t>o(t+1)=o(t)+</a:t>
            </a:r>
            <a:r>
              <a:rPr lang="pl-PL" dirty="0" smtClean="0">
                <a:sym typeface="Symbol"/>
              </a:rPr>
              <a:t> </a:t>
            </a:r>
            <a:r>
              <a:rPr lang="pl-PL" dirty="0" err="1" smtClean="0">
                <a:sym typeface="Symbol"/>
              </a:rPr>
              <a:t>cb</a:t>
            </a:r>
            <a:r>
              <a:rPr lang="pl-PL" dirty="0" smtClean="0">
                <a:sym typeface="Symbol"/>
              </a:rPr>
              <a:t>(t) -</a:t>
            </a:r>
            <a:r>
              <a:rPr lang="pl-PL" dirty="0" smtClean="0"/>
              <a:t>o(t</a:t>
            </a:r>
            <a:r>
              <a:rPr lang="pl-PL" dirty="0" smtClean="0"/>
              <a:t>)=</a:t>
            </a:r>
            <a:r>
              <a:rPr lang="pl-PL" dirty="0" err="1" smtClean="0">
                <a:sym typeface="Symbol"/>
              </a:rPr>
              <a:t>cb</a:t>
            </a:r>
            <a:r>
              <a:rPr lang="pl-PL" dirty="0" smtClean="0">
                <a:sym typeface="Symbol"/>
              </a:rPr>
              <a:t>(t)-</a:t>
            </a:r>
            <a:r>
              <a:rPr lang="pl-PL" dirty="0" smtClean="0">
                <a:sym typeface="Symbol"/>
              </a:rPr>
              <a:t> </a:t>
            </a:r>
            <a:r>
              <a:rPr lang="pl-PL" dirty="0" err="1" smtClean="0">
                <a:sym typeface="Symbol"/>
              </a:rPr>
              <a:t>pu</a:t>
            </a:r>
            <a:r>
              <a:rPr lang="pl-PL" dirty="0" smtClean="0">
                <a:sym typeface="Symbol"/>
              </a:rPr>
              <a:t>(t+1)</a:t>
            </a:r>
            <a:endParaRPr lang="pl-PL" dirty="0" smtClean="0"/>
          </a:p>
          <a:p>
            <a:pPr>
              <a:buNone/>
            </a:pPr>
            <a:r>
              <a:rPr lang="pl-PL" dirty="0" smtClean="0"/>
              <a:t>u(t+1)=u(t)+</a:t>
            </a:r>
            <a:r>
              <a:rPr lang="pl-PL" dirty="0" smtClean="0">
                <a:sym typeface="Symbol"/>
              </a:rPr>
              <a:t> </a:t>
            </a:r>
            <a:r>
              <a:rPr lang="pl-PL" dirty="0" err="1" smtClean="0">
                <a:sym typeface="Symbol"/>
              </a:rPr>
              <a:t>pu</a:t>
            </a:r>
            <a:r>
              <a:rPr lang="pl-PL" dirty="0" smtClean="0">
                <a:sym typeface="Symbol"/>
              </a:rPr>
              <a:t>(t+1)</a:t>
            </a:r>
            <a:endParaRPr lang="pl-PL" dirty="0" smtClean="0"/>
          </a:p>
          <a:p>
            <a:pPr>
              <a:buNone/>
            </a:pPr>
            <a:endParaRPr lang="pl-PL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smtClean="0"/>
              <a:t>Ogólny układ modelu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pl-PL" dirty="0" smtClean="0"/>
              <a:t>z(t+1)=z(t)+</a:t>
            </a:r>
            <a:r>
              <a:rPr lang="pl-PL" dirty="0" smtClean="0">
                <a:sym typeface="Symbol"/>
              </a:rPr>
              <a:t> o(t) - </a:t>
            </a:r>
            <a:r>
              <a:rPr lang="pl-PL" dirty="0" err="1" smtClean="0">
                <a:sym typeface="Symbol"/>
              </a:rPr>
              <a:t>pca</a:t>
            </a:r>
            <a:r>
              <a:rPr lang="pl-PL" dirty="0" smtClean="0">
                <a:sym typeface="Symbol"/>
              </a:rPr>
              <a:t>(t+1)</a:t>
            </a:r>
          </a:p>
          <a:p>
            <a:pPr>
              <a:buNone/>
            </a:pPr>
            <a:r>
              <a:rPr lang="pl-PL" dirty="0" smtClean="0"/>
              <a:t>ca(t+1)=</a:t>
            </a:r>
            <a:r>
              <a:rPr lang="pl-PL" dirty="0" err="1" smtClean="0">
                <a:sym typeface="Symbol"/>
              </a:rPr>
              <a:t>pca</a:t>
            </a:r>
            <a:r>
              <a:rPr lang="pl-PL" dirty="0" smtClean="0">
                <a:sym typeface="Symbol"/>
              </a:rPr>
              <a:t>(t+1)</a:t>
            </a:r>
            <a:endParaRPr lang="pl-PL" dirty="0" smtClean="0"/>
          </a:p>
          <a:p>
            <a:pPr>
              <a:buNone/>
            </a:pPr>
            <a:r>
              <a:rPr lang="pl-PL" dirty="0" err="1" smtClean="0"/>
              <a:t>cb</a:t>
            </a:r>
            <a:r>
              <a:rPr lang="pl-PL" dirty="0" smtClean="0"/>
              <a:t>(t+1)=</a:t>
            </a:r>
            <a:r>
              <a:rPr lang="pl-PL" dirty="0" smtClean="0">
                <a:sym typeface="Symbol"/>
              </a:rPr>
              <a:t> ca(t)</a:t>
            </a:r>
            <a:endParaRPr lang="pl-PL" dirty="0" smtClean="0"/>
          </a:p>
          <a:p>
            <a:pPr>
              <a:buNone/>
            </a:pPr>
            <a:r>
              <a:rPr lang="pl-PL" dirty="0" smtClean="0"/>
              <a:t>o(t+1</a:t>
            </a:r>
            <a:r>
              <a:rPr lang="pl-PL" dirty="0" smtClean="0"/>
              <a:t>)=</a:t>
            </a:r>
            <a:r>
              <a:rPr lang="pl-PL" dirty="0" err="1" smtClean="0"/>
              <a:t>cb</a:t>
            </a:r>
            <a:r>
              <a:rPr lang="pl-PL" dirty="0" smtClean="0"/>
              <a:t>(t</a:t>
            </a:r>
            <a:r>
              <a:rPr lang="pl-PL" dirty="0" smtClean="0"/>
              <a:t>)</a:t>
            </a:r>
            <a:r>
              <a:rPr lang="pl-PL" dirty="0" smtClean="0">
                <a:sym typeface="Symbol"/>
              </a:rPr>
              <a:t> -</a:t>
            </a:r>
            <a:r>
              <a:rPr lang="pl-PL" dirty="0" err="1" smtClean="0">
                <a:sym typeface="Symbol"/>
              </a:rPr>
              <a:t>pu</a:t>
            </a:r>
            <a:r>
              <a:rPr lang="pl-PL" dirty="0" smtClean="0">
                <a:sym typeface="Symbol"/>
              </a:rPr>
              <a:t>(t+1)</a:t>
            </a:r>
            <a:endParaRPr lang="pl-PL" dirty="0" smtClean="0"/>
          </a:p>
          <a:p>
            <a:pPr>
              <a:buNone/>
            </a:pPr>
            <a:r>
              <a:rPr lang="pl-PL" dirty="0" smtClean="0"/>
              <a:t>u(t+1)=u(t)+</a:t>
            </a:r>
            <a:r>
              <a:rPr lang="pl-PL" dirty="0" smtClean="0">
                <a:sym typeface="Symbol"/>
              </a:rPr>
              <a:t> </a:t>
            </a:r>
            <a:r>
              <a:rPr lang="pl-PL" dirty="0" err="1" smtClean="0">
                <a:sym typeface="Symbol"/>
              </a:rPr>
              <a:t>pu</a:t>
            </a:r>
            <a:r>
              <a:rPr lang="pl-PL" dirty="0" smtClean="0">
                <a:sym typeface="Symbol"/>
              </a:rPr>
              <a:t>(t+1</a:t>
            </a:r>
            <a:r>
              <a:rPr lang="pl-PL" dirty="0" smtClean="0">
                <a:sym typeface="Symbol"/>
              </a:rPr>
              <a:t>)</a:t>
            </a:r>
          </a:p>
          <a:p>
            <a:pPr>
              <a:buNone/>
            </a:pPr>
            <a:r>
              <a:rPr lang="pl-PL" dirty="0" smtClean="0">
                <a:sym typeface="Symbol"/>
              </a:rPr>
              <a:t>z(0), o(0), ca(0), </a:t>
            </a:r>
            <a:r>
              <a:rPr lang="pl-PL" dirty="0" err="1" smtClean="0">
                <a:sym typeface="Symbol"/>
              </a:rPr>
              <a:t>cb</a:t>
            </a:r>
            <a:r>
              <a:rPr lang="pl-PL" dirty="0" smtClean="0">
                <a:sym typeface="Symbol"/>
              </a:rPr>
              <a:t>(0),u(0)</a:t>
            </a:r>
          </a:p>
          <a:p>
            <a:pPr>
              <a:buNone/>
            </a:pPr>
            <a:r>
              <a:rPr lang="pl-PL" dirty="0" smtClean="0">
                <a:sym typeface="Symbol"/>
              </a:rPr>
              <a:t>z(1)=z(0)+</a:t>
            </a:r>
            <a:r>
              <a:rPr lang="pl-PL" dirty="0" smtClean="0">
                <a:sym typeface="Symbol"/>
              </a:rPr>
              <a:t>o(0)- </a:t>
            </a:r>
            <a:r>
              <a:rPr lang="pl-PL" dirty="0" err="1" smtClean="0">
                <a:sym typeface="Symbol"/>
              </a:rPr>
              <a:t>pca</a:t>
            </a:r>
            <a:r>
              <a:rPr lang="pl-PL" dirty="0" smtClean="0">
                <a:sym typeface="Symbol"/>
              </a:rPr>
              <a:t>(1)</a:t>
            </a:r>
          </a:p>
          <a:p>
            <a:pPr>
              <a:buNone/>
            </a:pPr>
            <a:r>
              <a:rPr lang="pl-PL" dirty="0" smtClean="0">
                <a:sym typeface="Symbol"/>
              </a:rPr>
              <a:t>ca(1)= </a:t>
            </a:r>
            <a:r>
              <a:rPr lang="pl-PL" dirty="0" err="1" smtClean="0">
                <a:sym typeface="Symbol"/>
              </a:rPr>
              <a:t>pca</a:t>
            </a:r>
            <a:r>
              <a:rPr lang="pl-PL" dirty="0" smtClean="0">
                <a:sym typeface="Symbol"/>
              </a:rPr>
              <a:t>(1</a:t>
            </a:r>
            <a:r>
              <a:rPr lang="pl-PL" dirty="0" smtClean="0">
                <a:sym typeface="Symbol"/>
              </a:rPr>
              <a:t>)</a:t>
            </a:r>
          </a:p>
          <a:p>
            <a:pPr>
              <a:buNone/>
            </a:pPr>
            <a:r>
              <a:rPr lang="pl-PL" dirty="0" err="1" smtClean="0">
                <a:sym typeface="Symbol"/>
              </a:rPr>
              <a:t>cb</a:t>
            </a:r>
            <a:r>
              <a:rPr lang="pl-PL" dirty="0" smtClean="0">
                <a:sym typeface="Symbol"/>
              </a:rPr>
              <a:t>(1)=ca(0)</a:t>
            </a:r>
          </a:p>
          <a:p>
            <a:pPr>
              <a:buNone/>
            </a:pPr>
            <a:r>
              <a:rPr lang="pl-PL" dirty="0" smtClean="0">
                <a:sym typeface="Symbol"/>
              </a:rPr>
              <a:t>o(1)=</a:t>
            </a:r>
            <a:r>
              <a:rPr lang="pl-PL" dirty="0" err="1" smtClean="0">
                <a:sym typeface="Symbol"/>
              </a:rPr>
              <a:t>cb</a:t>
            </a:r>
            <a:r>
              <a:rPr lang="pl-PL" dirty="0" smtClean="0">
                <a:sym typeface="Symbol"/>
              </a:rPr>
              <a:t>(0)-</a:t>
            </a:r>
            <a:r>
              <a:rPr lang="pl-PL" dirty="0" err="1" smtClean="0">
                <a:sym typeface="Symbol"/>
              </a:rPr>
              <a:t>pu</a:t>
            </a:r>
            <a:r>
              <a:rPr lang="pl-PL" dirty="0" smtClean="0">
                <a:sym typeface="Symbol"/>
              </a:rPr>
              <a:t>(1)</a:t>
            </a:r>
          </a:p>
          <a:p>
            <a:pPr>
              <a:buNone/>
            </a:pPr>
            <a:r>
              <a:rPr lang="pl-PL" dirty="0" smtClean="0">
                <a:sym typeface="Symbol"/>
              </a:rPr>
              <a:t>u</a:t>
            </a:r>
            <a:r>
              <a:rPr lang="pl-PL" dirty="0" smtClean="0">
                <a:sym typeface="Symbol"/>
              </a:rPr>
              <a:t>(1)=u(0)+</a:t>
            </a:r>
            <a:r>
              <a:rPr lang="pl-PL" dirty="0" err="1" smtClean="0">
                <a:sym typeface="Symbol"/>
              </a:rPr>
              <a:t>pu</a:t>
            </a:r>
            <a:r>
              <a:rPr lang="pl-PL" smtClean="0">
                <a:sym typeface="Symbol"/>
              </a:rPr>
              <a:t>(1)</a:t>
            </a:r>
            <a:endParaRPr lang="pl-PL" dirty="0" smtClean="0"/>
          </a:p>
          <a:p>
            <a:pPr>
              <a:buNone/>
            </a:pPr>
            <a:endParaRPr lang="pl-PL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smtClean="0"/>
              <a:t>Ogólny układ modelu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pl-PL" dirty="0" smtClean="0">
                <a:latin typeface="Arial" pitchFamily="34" charset="0"/>
                <a:cs typeface="Arial" pitchFamily="34" charset="0"/>
              </a:rPr>
              <a:t>Zachorowalność</a:t>
            </a:r>
          </a:p>
          <a:p>
            <a:pPr>
              <a:buNone/>
            </a:pP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pca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(t)=(ca(t)+</a:t>
            </a: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cb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(t))/(z(t)+ca(t)+</a:t>
            </a: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cb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(t)+o(t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)) z(t)</a:t>
            </a:r>
            <a:endParaRPr lang="pl-PL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pPr>
              <a:buNone/>
            </a:pP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lub</a:t>
            </a:r>
          </a:p>
          <a:p>
            <a:pPr>
              <a:buNone/>
            </a:pP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pca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(t)</a:t>
            </a: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N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((ca(t)+</a:t>
            </a: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cb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(t))/(z(t)+ca(t)+</a:t>
            </a: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cb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(t)+o(t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)) z(t),</a:t>
            </a: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pl-PL" baseline="-25000" dirty="0" err="1" smtClean="0">
                <a:latin typeface="Arial" pitchFamily="34" charset="0"/>
                <a:cs typeface="Arial" pitchFamily="34" charset="0"/>
                <a:sym typeface="Symbol"/>
              </a:rPr>
              <a:t>pca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)</a:t>
            </a:r>
          </a:p>
          <a:p>
            <a:pPr algn="just">
              <a:buNone/>
            </a:pP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pl-PL" baseline="-25000" dirty="0" err="1" smtClean="0">
                <a:latin typeface="Arial" pitchFamily="34" charset="0"/>
                <a:cs typeface="Arial" pitchFamily="34" charset="0"/>
                <a:sym typeface="Symbol"/>
              </a:rPr>
              <a:t>pca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 – odchylenie standardowe  rozkładu zachorowań dobrane na podstawie danych rzeczywistych lub wyznaczane na różnych poziomach w zależności od założeń eksperymentów symulacyjnych</a:t>
            </a:r>
          </a:p>
          <a:p>
            <a:pPr algn="just">
              <a:buNone/>
            </a:pP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Umieralność</a:t>
            </a:r>
          </a:p>
          <a:p>
            <a:pPr algn="just">
              <a:buNone/>
            </a:pP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pu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(t)</a:t>
            </a: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</a:t>
            </a: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N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ru,s</a:t>
            </a:r>
            <a:r>
              <a:rPr lang="pl-PL" baseline="-25000" dirty="0" err="1" smtClean="0">
                <a:latin typeface="Arial" pitchFamily="34" charset="0"/>
                <a:cs typeface="Arial" pitchFamily="34" charset="0"/>
                <a:sym typeface="Symbol"/>
              </a:rPr>
              <a:t>ru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)</a:t>
            </a:r>
          </a:p>
          <a:p>
            <a:pPr algn="just">
              <a:buNone/>
            </a:pPr>
            <a:r>
              <a:rPr lang="pl-PL" dirty="0" err="1" smtClean="0">
                <a:latin typeface="Arial" pitchFamily="34" charset="0"/>
                <a:cs typeface="Arial" pitchFamily="34" charset="0"/>
              </a:rPr>
              <a:t>ru</a:t>
            </a:r>
            <a:r>
              <a:rPr lang="pl-PL" dirty="0" smtClean="0">
                <a:latin typeface="Arial" pitchFamily="34" charset="0"/>
                <a:cs typeface="Arial" pitchFamily="34" charset="0"/>
              </a:rPr>
              <a:t> – rzeczywista średnia umieralność dla danej choroby (może być też zmienna) 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dobrana na podstawie danych rzeczywistych lub wyznaczana na różnych poziomach w zależności od założeń eksperymentów symulacyjnych</a:t>
            </a:r>
          </a:p>
          <a:p>
            <a:pPr algn="just">
              <a:buNone/>
            </a:pPr>
            <a:r>
              <a:rPr lang="pl-PL" dirty="0" err="1" smtClean="0"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pl-PL" baseline="-25000" dirty="0" err="1" smtClean="0">
                <a:latin typeface="Arial" pitchFamily="34" charset="0"/>
                <a:cs typeface="Arial" pitchFamily="34" charset="0"/>
                <a:sym typeface="Symbol"/>
              </a:rPr>
              <a:t>ru</a:t>
            </a:r>
            <a:r>
              <a:rPr lang="pl-PL" dirty="0" smtClean="0">
                <a:latin typeface="Arial" pitchFamily="34" charset="0"/>
                <a:cs typeface="Arial" pitchFamily="34" charset="0"/>
                <a:sym typeface="Symbol"/>
              </a:rPr>
              <a:t> - odchylenie standardowe  rozkładu umieralności dobrane na podstawie danych rzeczywistych lub wyznaczane na różnych poziomach w zależności od założeń eksperymentów symulacyjnych</a:t>
            </a:r>
            <a:endParaRPr lang="pl-PL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l-PL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Kapitał">
  <a:themeElements>
    <a:clrScheme name="Kapitał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Kapitał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Kapitał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252</TotalTime>
  <Words>780</Words>
  <Application>Microsoft Office PowerPoint</Application>
  <PresentationFormat>Pokaz na ekranie (4:3)</PresentationFormat>
  <Paragraphs>88</Paragraphs>
  <Slides>11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2" baseType="lpstr">
      <vt:lpstr>Kapitał</vt:lpstr>
      <vt:lpstr>Uproszczony model symulacyjny epidemii</vt:lpstr>
      <vt:lpstr>Problem</vt:lpstr>
      <vt:lpstr>Schemat układu zależności (nawiązując do metodologii system dynamics układ złożony z zasobów)</vt:lpstr>
      <vt:lpstr>Zmienne modelu</vt:lpstr>
      <vt:lpstr>Układ równań modelu zgodny z założeniami metodologii system dynamics)</vt:lpstr>
      <vt:lpstr>Ogólny układ modelu</vt:lpstr>
      <vt:lpstr>Ogólny układ modelu</vt:lpstr>
      <vt:lpstr>Ogólny układ modelu</vt:lpstr>
      <vt:lpstr>Ogólny układ modelu</vt:lpstr>
      <vt:lpstr>Ogólny układ modelu</vt:lpstr>
      <vt:lpstr>Ogólny układ modelu</vt:lpstr>
    </vt:vector>
  </TitlesOfParts>
  <Company>wu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Uproszczony model symulacyjny epidemii</dc:title>
  <dc:creator>wu</dc:creator>
  <cp:lastModifiedBy>qwerty</cp:lastModifiedBy>
  <cp:revision>24</cp:revision>
  <dcterms:created xsi:type="dcterms:W3CDTF">2020-03-29T09:55:53Z</dcterms:created>
  <dcterms:modified xsi:type="dcterms:W3CDTF">2021-03-02T16:23:25Z</dcterms:modified>
</cp:coreProperties>
</file>